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Geografía del Colapso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Transmisión de Shocks Fiscales a la Salud</a:t>
            </a:r>
          </a:p>
          <a:p>
            <a:pPr>
              <a:defRPr sz="2000">
                <a:solidFill>
                  <a:srgbClr val="646464"/>
                </a:solidFill>
              </a:defRPr>
            </a:pPr>
            <a:r>
              <a:t>(Working Papers para aplicación doctoral)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Shock Macro (2018)  ➔  Licuación Presupuestaria  ➔  Freno Obra Pública  ➔  Mortalidad Perinatal</a:t>
            </a:r>
          </a:p>
          <a:p>
            <a:pPr algn="ctr">
              <a:defRPr sz="1600">
                <a:solidFill>
                  <a:srgbClr val="B22222"/>
                </a:solidFill>
              </a:defRPr>
            </a:pPr>
            <a:r>
              <a:t>[ Condicionado por: Fricción Espacial Privada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4F4F"/>
                </a:solidFill>
              </a:defRPr>
            </a:pPr>
            <a:r>
              <a:t>1. Estrategia de Identificación y 2SLS (Paper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Mecanismo Causal: Caída de Inversión en Capital Físico Hospitalario.</a:t>
            </a:r>
          </a:p>
          <a:p>
            <a:pPr lvl="1"/>
            <a:r>
              <a:t>Instrumento: ln(Obra_Histórica) × Post2018</a:t>
            </a:r>
          </a:p>
          <a:p>
            <a:pPr lvl="1">
              <a:defRPr b="1"/>
            </a:pPr>
            <a:r>
              <a:t>Primera Etapa F-Stat: &gt; 130 (Instrumento Fuerte)</a:t>
            </a:r>
          </a:p>
          <a:p>
            <a:pPr lvl="1"/>
            <a:r>
              <a:t>Segunda Etapa (Efecto en Mortalidad Perinatal):</a:t>
            </a:r>
          </a:p>
          <a:p>
            <a:pPr lvl="2">
              <a:defRPr b="1">
                <a:solidFill>
                  <a:srgbClr val="B22222"/>
                </a:solidFill>
              </a:defRPr>
            </a:pPr>
            <a:r>
              <a:t>β = -1.81  (p &lt; 0.05)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4F4F"/>
                </a:solidFill>
              </a:defRPr>
            </a:pPr>
            <a:r>
              <a:t>2. Restricción de Exclusión y Efecto Local (LATE)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Prueba de Falsación (Null Result):</a:t>
            </a:r>
          </a:p>
          <a:p>
            <a:pPr lvl="1"/>
            <a:r>
              <a:t>Variable Dependiente: Mortalidad por Cáncer</a:t>
            </a:r>
          </a:p>
          <a:p>
            <a:pPr lvl="2">
              <a:defRPr b="1"/>
            </a:pPr>
            <a:r>
              <a:t>Coeficiente = 0.061 (p = 0.88)</a:t>
            </a:r>
          </a:p>
          <a:p>
            <a:pPr/>
            <a:r>
              <a:t>Análisis Leave-One-Out (Robustez Territorial):</a:t>
            </a:r>
          </a:p>
          <a:p>
            <a:pPr lvl="1"/>
            <a:r>
              <a:t>El efecto causal es un LATE espacialmente concentrado.</a:t>
            </a:r>
          </a:p>
          <a:p>
            <a:pPr lvl="2"/>
            <a:r>
              <a:t>Al excluir Provincias Dependientes (ej. SdE, La Pampa), el estimador pierde significancia (p &gt; 0.10).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4F4F"/>
                </a:solidFill>
              </a:defRPr>
            </a:pPr>
            <a:r>
              <a:t>3. El Efecto Cautivo: Micro-Econometría (Paper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Datos: 48.853 Radios Censales ∩ Polígonos RENABAP</a:t>
            </a:r>
          </a:p>
          <a:p>
            <a:pPr/>
            <a:r>
              <a:t>Modelo Logit (Desierto Farmacéutico):</a:t>
            </a:r>
          </a:p>
          <a:p>
            <a:pPr lvl="1">
              <a:defRPr b="1"/>
            </a:pPr>
            <a:r>
              <a:t>Odds Ratio: +27% (p &lt; 0.01) para polígonos RENABAP.</a:t>
            </a:r>
          </a:p>
          <a:p>
            <a:pPr/>
            <a:r>
              <a:t>Modelo Poisson / Negative Binomial (Capilaridad):</a:t>
            </a:r>
          </a:p>
          <a:p>
            <a:pPr lvl="1">
              <a:defRPr b="1"/>
            </a:pPr>
            <a:r>
              <a:t>Caída de -10.3% (p &lt; 0.05) de farmacias cruzando la frontera informal.</a:t>
            </a:r>
          </a:p>
          <a:p>
            <a:pPr/>
            <a:r>
              <a:t>Conclusión: El 'Doble Abandono'. Falla el Estado (Macro) y el Mercado aplica redlining (Micro).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4F4F"/>
                </a:solidFill>
              </a:defRPr>
            </a:pPr>
            <a:r>
              <a:t>4. Desafíos Metodológicos para Referato (Q1)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diseño base está cerrado y programado en Python, pero busco escalar la robustez técnica:</a:t>
            </a:r>
          </a:p>
          <a:p>
            <a:pPr lvl="1"/>
            <a:r>
              <a:t>Atenuación Panel Corto (T=9): Lidia con la pérdida de significancia al incluir Province-Specific Linear Time Trends.</a:t>
            </a:r>
          </a:p>
          <a:p>
            <a:pPr lvl="1"/>
            <a:r>
              <a:t>Econometría Espacial: Implementar Moran's I o Errores Estándar Espaciales (Conley) para controlar la autocorrelación intra-urbana transversal.</a:t>
            </a:r>
          </a:p>
          <a:p>
            <a:pPr lvl="1">
              <a:defRPr b="1">
                <a:solidFill>
                  <a:srgbClr val="2F4F4F"/>
                </a:solidFill>
              </a:defRPr>
            </a:pPr>
            <a:r>
              <a:t>Propuesta: Integrar estos ajustes metodológicos para co-autorar el envío a un journal como JPubE o Health Economics.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